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194A9F-0860-7931-ADEA-C71257A93ED4}" v="1279" dt="2025-04-21T09:08:51.0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9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2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602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191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00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223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67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460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013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622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129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28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519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Generated image">
            <a:extLst>
              <a:ext uri="{FF2B5EF4-FFF2-40B4-BE49-F238E27FC236}">
                <a16:creationId xmlns:a16="http://schemas.microsoft.com/office/drawing/2014/main" id="{4C3019E3-B585-D43C-C49D-3BE92F08D0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37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9BCF0D0-8950-D5F6-543F-53FD4549C3BA}"/>
              </a:ext>
            </a:extLst>
          </p:cNvPr>
          <p:cNvSpPr txBox="1"/>
          <p:nvPr/>
        </p:nvSpPr>
        <p:spPr>
          <a:xfrm>
            <a:off x="328351" y="3426889"/>
            <a:ext cx="8419376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000" b="1" dirty="0">
                <a:solidFill>
                  <a:schemeClr val="bg1">
                    <a:lumMod val="49000"/>
                  </a:schemeClr>
                </a:solidFill>
                <a:latin typeface="Segoe UI"/>
                <a:ea typeface="+mn-lt"/>
                <a:cs typeface="+mn-lt"/>
              </a:rPr>
              <a:t>Gap Analysis Report on</a:t>
            </a:r>
            <a:r>
              <a:rPr lang="en-GB" sz="4000" b="1" dirty="0">
                <a:latin typeface="Segoe UI"/>
                <a:ea typeface="+mn-lt"/>
                <a:cs typeface="+mn-lt"/>
              </a:rPr>
              <a:t> </a:t>
            </a:r>
            <a:br>
              <a:rPr lang="en-GB" sz="4000" b="1" dirty="0">
                <a:latin typeface="Segoe UI"/>
                <a:ea typeface="+mn-lt"/>
                <a:cs typeface="+mn-lt"/>
              </a:rPr>
            </a:br>
            <a:r>
              <a:rPr lang="en-GB" sz="4000" b="1" dirty="0">
                <a:latin typeface="Segoe UI"/>
                <a:ea typeface="+mn-lt"/>
                <a:cs typeface="Segoe UI"/>
              </a:rPr>
              <a:t>               </a:t>
            </a:r>
            <a:r>
              <a:rPr lang="en-GB" sz="4000" b="1" dirty="0" err="1">
                <a:latin typeface="Segoe UI"/>
                <a:ea typeface="+mn-lt"/>
                <a:cs typeface="Segoe UI"/>
              </a:rPr>
              <a:t>TCPWave</a:t>
            </a:r>
            <a:r>
              <a:rPr lang="en-GB" sz="4000" b="1" dirty="0">
                <a:latin typeface="Segoe UI"/>
                <a:ea typeface="+mn-lt"/>
                <a:cs typeface="Segoe UI"/>
              </a:rPr>
              <a:t> WAF Solution </a:t>
            </a:r>
            <a:endParaRPr lang="en-US" sz="4000" b="1" dirty="0">
              <a:latin typeface="Segoe UI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3A0157D7-604A-53AD-8B7A-442521736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5466" y="6039878"/>
            <a:ext cx="1819275" cy="7715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754D5D-94C2-0153-E098-E46EC99C1A18}"/>
              </a:ext>
            </a:extLst>
          </p:cNvPr>
          <p:cNvSpPr txBox="1"/>
          <p:nvPr/>
        </p:nvSpPr>
        <p:spPr>
          <a:xfrm>
            <a:off x="303212" y="327025"/>
            <a:ext cx="1129982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egoe UI"/>
                <a:cs typeface="Segoe UI"/>
              </a:rPr>
              <a:t>Market Competitors (2025) in WAF Space &amp; TCP Ranking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C3148E1-C064-3D83-C341-97FE2ADD1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447818"/>
              </p:ext>
            </p:extLst>
          </p:nvPr>
        </p:nvGraphicFramePr>
        <p:xfrm>
          <a:off x="706437" y="1119187"/>
          <a:ext cx="10899201" cy="496074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476048">
                  <a:extLst>
                    <a:ext uri="{9D8B030D-6E8A-4147-A177-3AD203B41FA5}">
                      <a16:colId xmlns:a16="http://schemas.microsoft.com/office/drawing/2014/main" val="3515542497"/>
                    </a:ext>
                  </a:extLst>
                </a:gridCol>
                <a:gridCol w="1984463">
                  <a:extLst>
                    <a:ext uri="{9D8B030D-6E8A-4147-A177-3AD203B41FA5}">
                      <a16:colId xmlns:a16="http://schemas.microsoft.com/office/drawing/2014/main" val="1389208152"/>
                    </a:ext>
                  </a:extLst>
                </a:gridCol>
                <a:gridCol w="3682999">
                  <a:extLst>
                    <a:ext uri="{9D8B030D-6E8A-4147-A177-3AD203B41FA5}">
                      <a16:colId xmlns:a16="http://schemas.microsoft.com/office/drawing/2014/main" val="569179227"/>
                    </a:ext>
                  </a:extLst>
                </a:gridCol>
                <a:gridCol w="3755691">
                  <a:extLst>
                    <a:ext uri="{9D8B030D-6E8A-4147-A177-3AD203B41FA5}">
                      <a16:colId xmlns:a16="http://schemas.microsoft.com/office/drawing/2014/main" val="1318562579"/>
                    </a:ext>
                  </a:extLst>
                </a:gridCol>
              </a:tblGrid>
              <a:tr h="495342">
                <a:tc>
                  <a:txBody>
                    <a:bodyPr/>
                    <a:lstStyle/>
                    <a:p>
                      <a:pPr algn="ctr"/>
                      <a:r>
                        <a:rPr lang="en-GB" b="1" i="0" dirty="0">
                          <a:latin typeface="Segoe UI"/>
                        </a:rPr>
                        <a:t>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i="0" dirty="0">
                          <a:latin typeface="Segoe UI"/>
                        </a:rPr>
                        <a:t>Vendor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i="0" dirty="0">
                          <a:latin typeface="Segoe UI"/>
                        </a:rPr>
                        <a:t>Strengths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i="0" dirty="0">
                          <a:latin typeface="Segoe UI"/>
                        </a:rPr>
                        <a:t>Weaknesses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1428194"/>
                  </a:ext>
                </a:extLst>
              </a:tr>
              <a:tr h="572739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Segoe U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AWS WAF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Scalable, integrated with AWS Shield, Bot Control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AWS-focused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52230"/>
                  </a:ext>
                </a:extLst>
              </a:tr>
              <a:tr h="572739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Segoe U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Cloudflare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Excellent global CDN, Zero Trust, Bot mitigation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Limited logging granularity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987247"/>
                  </a:ext>
                </a:extLst>
              </a:tr>
              <a:tr h="572739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Segoe U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Akamai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Advanced threat intelligence, global network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Expensive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970480"/>
                  </a:ext>
                </a:extLst>
              </a:tr>
              <a:tr h="495342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Segoe U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Imperva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Full-stack protection, DDoS + WAF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UI complexity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518966"/>
                  </a:ext>
                </a:extLst>
              </a:tr>
              <a:tr h="572739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Segoe U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Fortinet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Tight integration with FortiGate, strong security DNA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Steep learning curveF5 (BIG-IP)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039579"/>
                  </a:ext>
                </a:extLst>
              </a:tr>
              <a:tr h="572739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Segoe U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F5 (BIG-IP)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Custom rules engine, strong enterprise-grade WAF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Costly, requires expertise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413928"/>
                  </a:ext>
                </a:extLst>
              </a:tr>
              <a:tr h="495342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Segoe UI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Barracuda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SMB-friendly, cost-effective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Not as scalable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275496"/>
                  </a:ext>
                </a:extLst>
              </a:tr>
              <a:tr h="5727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latin typeface="Segoe UI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u="none" strike="noStrike" noProof="0" err="1">
                          <a:solidFill>
                            <a:srgbClr val="000000"/>
                          </a:solidFill>
                          <a:latin typeface="Segoe UI"/>
                        </a:rPr>
                        <a:t>TCPWave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DNS, IPAM, WAF combo, flexible deployment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Lacks behavioural AI/ML, Threat Intel feeds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030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9644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2B1F4-5E88-F4F8-ABE3-48DC55889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137560F4-B931-25DF-E41C-015E0E714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5466" y="6039878"/>
            <a:ext cx="1819275" cy="7715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EF103F-18FE-1257-D6C0-FE58B13CC56E}"/>
              </a:ext>
            </a:extLst>
          </p:cNvPr>
          <p:cNvSpPr txBox="1"/>
          <p:nvPr/>
        </p:nvSpPr>
        <p:spPr>
          <a:xfrm>
            <a:off x="303212" y="898525"/>
            <a:ext cx="1129982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err="1">
                <a:solidFill>
                  <a:srgbClr val="153D64"/>
                </a:solidFill>
                <a:latin typeface="Segoe UI"/>
                <a:cs typeface="Segoe UI"/>
              </a:rPr>
              <a:t>TCPWave</a:t>
            </a:r>
            <a:r>
              <a:rPr lang="en-US" sz="4000" b="1" dirty="0">
                <a:solidFill>
                  <a:srgbClr val="153D64"/>
                </a:solidFill>
                <a:latin typeface="Segoe UI"/>
                <a:cs typeface="Segoe UI"/>
              </a:rPr>
              <a:t> WAF - Strengths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FB3538-048A-5F23-B9D5-D98ED6A0F883}"/>
              </a:ext>
            </a:extLst>
          </p:cNvPr>
          <p:cNvSpPr txBox="1"/>
          <p:nvPr/>
        </p:nvSpPr>
        <p:spPr>
          <a:xfrm>
            <a:off x="801686" y="2190750"/>
            <a:ext cx="10302875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Wingdings"/>
              <a:buChar char="ü"/>
            </a:pPr>
            <a:r>
              <a:rPr lang="en-GB" sz="3200" dirty="0">
                <a:latin typeface="Segoe UI"/>
                <a:ea typeface="+mn-lt"/>
                <a:cs typeface="+mn-lt"/>
              </a:rPr>
              <a:t>Integrated DNS-DDI-WAF platform.</a:t>
            </a:r>
            <a:endParaRPr lang="en-US" sz="3200">
              <a:latin typeface="Segoe UI"/>
              <a:ea typeface="+mn-lt"/>
              <a:cs typeface="+mn-lt"/>
            </a:endParaRPr>
          </a:p>
          <a:p>
            <a:pPr marL="571500" indent="-571500">
              <a:buFont typeface="Wingdings"/>
              <a:buChar char="ü"/>
            </a:pPr>
            <a:r>
              <a:rPr lang="en-GB" sz="3200" dirty="0">
                <a:latin typeface="Segoe UI"/>
                <a:ea typeface="+mn-lt"/>
                <a:cs typeface="+mn-lt"/>
              </a:rPr>
              <a:t>Flexible appliance &amp; cloud deployment models.</a:t>
            </a:r>
          </a:p>
          <a:p>
            <a:pPr marL="571500" indent="-571500">
              <a:buFont typeface="Wingdings"/>
              <a:buChar char="ü"/>
            </a:pPr>
            <a:r>
              <a:rPr lang="en-GB" sz="3200" dirty="0">
                <a:latin typeface="Segoe UI"/>
                <a:ea typeface="+mn-lt"/>
                <a:cs typeface="+mn-lt"/>
              </a:rPr>
              <a:t>Custom rule configuration (scripting support).</a:t>
            </a:r>
          </a:p>
          <a:p>
            <a:pPr marL="571500" indent="-571500">
              <a:buFont typeface="Wingdings"/>
              <a:buChar char="ü"/>
            </a:pPr>
            <a:r>
              <a:rPr lang="en-GB" sz="3200" dirty="0">
                <a:latin typeface="Segoe UI"/>
                <a:ea typeface="+mn-lt"/>
                <a:cs typeface="+mn-lt"/>
              </a:rPr>
              <a:t>Scalable WAF for enterprise environments.</a:t>
            </a:r>
          </a:p>
          <a:p>
            <a:pPr marL="571500" indent="-571500">
              <a:buFont typeface="Wingdings"/>
              <a:buChar char="ü"/>
            </a:pPr>
            <a:r>
              <a:rPr lang="en-GB" sz="3200" dirty="0">
                <a:latin typeface="Segoe UI"/>
                <a:ea typeface="+mn-lt"/>
                <a:cs typeface="+mn-lt"/>
              </a:rPr>
              <a:t>Seamless SIEM integration for logging.</a:t>
            </a:r>
          </a:p>
        </p:txBody>
      </p:sp>
    </p:spTree>
    <p:extLst>
      <p:ext uri="{BB962C8B-B14F-4D97-AF65-F5344CB8AC3E}">
        <p14:creationId xmlns:p14="http://schemas.microsoft.com/office/powerpoint/2010/main" val="792161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7B8BD-A09B-6076-3A71-4DB7E885A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524536D9-ACC7-9947-2227-E185C09DE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5466" y="6039878"/>
            <a:ext cx="1819275" cy="7715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6CE70B-D174-157A-1B53-95270CC60875}"/>
              </a:ext>
            </a:extLst>
          </p:cNvPr>
          <p:cNvSpPr txBox="1"/>
          <p:nvPr/>
        </p:nvSpPr>
        <p:spPr>
          <a:xfrm>
            <a:off x="334962" y="946150"/>
            <a:ext cx="1129982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 err="1">
                <a:solidFill>
                  <a:srgbClr val="153D64"/>
                </a:solidFill>
                <a:latin typeface="Segoe UI"/>
                <a:cs typeface="Segoe UI"/>
              </a:rPr>
              <a:t>TCPWave</a:t>
            </a:r>
            <a:r>
              <a:rPr lang="en-US" sz="4000" b="1" dirty="0">
                <a:solidFill>
                  <a:srgbClr val="153D64"/>
                </a:solidFill>
                <a:latin typeface="Segoe UI"/>
                <a:cs typeface="Segoe UI"/>
              </a:rPr>
              <a:t> WAF - Weaknesses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DAF33B-4815-0CB8-23E5-0A46F07E92A7}"/>
              </a:ext>
            </a:extLst>
          </p:cNvPr>
          <p:cNvSpPr txBox="1"/>
          <p:nvPr/>
        </p:nvSpPr>
        <p:spPr>
          <a:xfrm>
            <a:off x="833436" y="2301875"/>
            <a:ext cx="10302875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Wingdings"/>
              <a:buChar char="Ø"/>
            </a:pPr>
            <a:r>
              <a:rPr lang="en-GB" sz="3200" dirty="0">
                <a:latin typeface="Segoe UI"/>
                <a:ea typeface="+mn-lt"/>
                <a:cs typeface="+mn-lt"/>
              </a:rPr>
              <a:t>No native behavioural AI-based anomaly detection.</a:t>
            </a:r>
            <a:endParaRPr lang="en-US" sz="3200">
              <a:latin typeface="Segoe UI"/>
              <a:ea typeface="+mn-lt"/>
              <a:cs typeface="+mn-lt"/>
            </a:endParaRPr>
          </a:p>
          <a:p>
            <a:pPr marL="571500" indent="-571500">
              <a:buFont typeface="Wingdings"/>
              <a:buChar char="Ø"/>
            </a:pPr>
            <a:r>
              <a:rPr lang="en-GB" sz="3200" dirty="0">
                <a:latin typeface="Segoe UI"/>
                <a:ea typeface="+mn-lt"/>
                <a:cs typeface="+mn-lt"/>
              </a:rPr>
              <a:t>Limited bot management capabilities.</a:t>
            </a:r>
          </a:p>
          <a:p>
            <a:pPr marL="571500" indent="-571500">
              <a:buFont typeface="Wingdings"/>
              <a:buChar char="Ø"/>
            </a:pPr>
            <a:r>
              <a:rPr lang="en-GB" sz="3200" dirty="0">
                <a:latin typeface="Segoe UI"/>
                <a:ea typeface="+mn-lt"/>
                <a:cs typeface="+mn-lt"/>
              </a:rPr>
              <a:t>Lacks curated global threat intelligence feeds.</a:t>
            </a:r>
            <a:endParaRPr lang="en-GB" sz="3200">
              <a:latin typeface="Segoe UI"/>
              <a:cs typeface="Segoe UI"/>
            </a:endParaRPr>
          </a:p>
          <a:p>
            <a:pPr marL="571500" indent="-571500">
              <a:buFont typeface="Wingdings"/>
              <a:buChar char="Ø"/>
            </a:pPr>
            <a:r>
              <a:rPr lang="en-GB" sz="3200" dirty="0">
                <a:latin typeface="Segoe UI"/>
                <a:ea typeface="+mn-lt"/>
                <a:cs typeface="+mn-lt"/>
              </a:rPr>
              <a:t>No built-in anti-malware or sandboxing.</a:t>
            </a:r>
          </a:p>
          <a:p>
            <a:pPr marL="571500" indent="-571500">
              <a:buFont typeface="Wingdings"/>
              <a:buChar char="Ø"/>
            </a:pPr>
            <a:r>
              <a:rPr lang="en-GB" sz="3200" dirty="0">
                <a:latin typeface="Segoe UI"/>
                <a:ea typeface="+mn-lt"/>
                <a:cs typeface="+mn-lt"/>
              </a:rPr>
              <a:t>Interface could be enhanced for SOC analysts..</a:t>
            </a:r>
            <a:endParaRPr lang="en-US" sz="3200">
              <a:latin typeface="Segoe UI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55618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6F541-B10A-A1E1-4CCF-547B627B1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426248A7-15E6-DC45-F233-581CBB905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5466" y="6039878"/>
            <a:ext cx="1819275" cy="7715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474B54-4A1E-29A4-D4F5-8AEBF737586F}"/>
              </a:ext>
            </a:extLst>
          </p:cNvPr>
          <p:cNvSpPr txBox="1"/>
          <p:nvPr/>
        </p:nvSpPr>
        <p:spPr>
          <a:xfrm>
            <a:off x="160337" y="319087"/>
            <a:ext cx="1129982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egoe UI"/>
                <a:cs typeface="Segoe UI"/>
              </a:rPr>
              <a:t>GAP Analysis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6837197-E758-7B7B-4BC6-3A2C129F96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79147"/>
              </p:ext>
            </p:extLst>
          </p:nvPr>
        </p:nvGraphicFramePr>
        <p:xfrm>
          <a:off x="519430" y="1309751"/>
          <a:ext cx="11264435" cy="4540977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52887">
                  <a:extLst>
                    <a:ext uri="{9D8B030D-6E8A-4147-A177-3AD203B41FA5}">
                      <a16:colId xmlns:a16="http://schemas.microsoft.com/office/drawing/2014/main" val="4269397652"/>
                    </a:ext>
                  </a:extLst>
                </a:gridCol>
                <a:gridCol w="2252887">
                  <a:extLst>
                    <a:ext uri="{9D8B030D-6E8A-4147-A177-3AD203B41FA5}">
                      <a16:colId xmlns:a16="http://schemas.microsoft.com/office/drawing/2014/main" val="3685941809"/>
                    </a:ext>
                  </a:extLst>
                </a:gridCol>
                <a:gridCol w="2252887">
                  <a:extLst>
                    <a:ext uri="{9D8B030D-6E8A-4147-A177-3AD203B41FA5}">
                      <a16:colId xmlns:a16="http://schemas.microsoft.com/office/drawing/2014/main" val="1385972451"/>
                    </a:ext>
                  </a:extLst>
                </a:gridCol>
                <a:gridCol w="2252887">
                  <a:extLst>
                    <a:ext uri="{9D8B030D-6E8A-4147-A177-3AD203B41FA5}">
                      <a16:colId xmlns:a16="http://schemas.microsoft.com/office/drawing/2014/main" val="3528460559"/>
                    </a:ext>
                  </a:extLst>
                </a:gridCol>
                <a:gridCol w="2252887">
                  <a:extLst>
                    <a:ext uri="{9D8B030D-6E8A-4147-A177-3AD203B41FA5}">
                      <a16:colId xmlns:a16="http://schemas.microsoft.com/office/drawing/2014/main" val="3057940632"/>
                    </a:ext>
                  </a:extLst>
                </a:gridCol>
              </a:tblGrid>
              <a:tr h="64871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Area</a:t>
                      </a:r>
                      <a:endParaRPr lang="en-US" sz="1800" b="1" i="0">
                        <a:latin typeface="Segoe 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Competitor Feature Available</a:t>
                      </a:r>
                      <a:endParaRPr lang="en-US" sz="1800" b="1" i="0">
                        <a:latin typeface="Segoe 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1" i="0" u="none" strike="noStrike" noProof="0" dirty="0" err="1">
                          <a:solidFill>
                            <a:srgbClr val="000000"/>
                          </a:solidFill>
                          <a:latin typeface="Segoe UI"/>
                        </a:rPr>
                        <a:t>TCPWave</a:t>
                      </a: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 Current State</a:t>
                      </a:r>
                      <a:endParaRPr lang="en-US" sz="1800" b="1" i="0">
                        <a:latin typeface="Segoe 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GAP Severity</a:t>
                      </a:r>
                      <a:endParaRPr lang="en-US" sz="1800" b="1" i="0">
                        <a:latin typeface="Segoe 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Recommendation</a:t>
                      </a:r>
                      <a:endParaRPr lang="en-US" sz="1800" b="1" i="0">
                        <a:latin typeface="Segoe 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2708520"/>
                  </a:ext>
                </a:extLst>
              </a:tr>
              <a:tr h="64871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Bot Management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Cloudflare, Akamai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Manual Rule Creation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High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Add </a:t>
                      </a:r>
                      <a:r>
                        <a:rPr lang="en-GB" sz="1600" b="0" i="0" u="none" strike="noStrike" noProof="0" err="1">
                          <a:solidFill>
                            <a:srgbClr val="000000"/>
                          </a:solidFill>
                          <a:latin typeface="Segoe UI"/>
                        </a:rPr>
                        <a:t>behavioral</a:t>
                      </a: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 bot detection module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183389"/>
                  </a:ext>
                </a:extLst>
              </a:tr>
              <a:tr h="64871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Threat Intelligence Feeds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Imperva, AWS, F5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No native integration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High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Integrate MISP or commercial feeds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627540"/>
                  </a:ext>
                </a:extLst>
              </a:tr>
              <a:tr h="64871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AI-Based Detection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F5, Fortinet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Rule-based detection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Medium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Include ML-driven analytics engine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04285"/>
                  </a:ext>
                </a:extLst>
              </a:tr>
              <a:tr h="64871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UI/UX for SOC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Akamai, AWS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Moderate complexity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Medium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UI streamlining for tier-1 analysts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932108"/>
                  </a:ext>
                </a:extLst>
              </a:tr>
              <a:tr h="64871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Malware Sandbox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Fortinet, Akamai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Not available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High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Partner with AV/sandbox vendors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209638"/>
                  </a:ext>
                </a:extLst>
              </a:tr>
              <a:tr h="64871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Global CDN + WAF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Cloudflare, Akamai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Limited CDN presence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Medium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</a:rPr>
                        <a:t>Explore CDN partnerships</a:t>
                      </a:r>
                      <a:endParaRPr lang="en-US" sz="1600">
                        <a:latin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763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5739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AB96C-F59C-53CD-9D4D-2279D10D2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200AD2B9-FFAC-A99D-726F-CE6C35685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5466" y="6039878"/>
            <a:ext cx="1819275" cy="7715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D5BAAC-ED24-46F6-CFDF-5696F402AE45}"/>
              </a:ext>
            </a:extLst>
          </p:cNvPr>
          <p:cNvSpPr txBox="1"/>
          <p:nvPr/>
        </p:nvSpPr>
        <p:spPr>
          <a:xfrm>
            <a:off x="160337" y="319087"/>
            <a:ext cx="1129982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dirty="0">
                <a:solidFill>
                  <a:srgbClr val="153D64"/>
                </a:solidFill>
                <a:latin typeface="Segoe UI"/>
                <a:cs typeface="Segoe UI"/>
              </a:rPr>
              <a:t>NABARD Use Case – Can </a:t>
            </a:r>
            <a:r>
              <a:rPr lang="en-US" sz="4400" b="1" err="1">
                <a:solidFill>
                  <a:srgbClr val="153D64"/>
                </a:solidFill>
                <a:latin typeface="Segoe UI"/>
                <a:cs typeface="Segoe UI"/>
              </a:rPr>
              <a:t>TCPWave</a:t>
            </a:r>
            <a:r>
              <a:rPr lang="en-US" sz="4400" b="1" dirty="0">
                <a:solidFill>
                  <a:srgbClr val="153D64"/>
                </a:solidFill>
                <a:latin typeface="Segoe UI"/>
                <a:cs typeface="Segoe UI"/>
              </a:rPr>
              <a:t> Help?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65059B-F9AA-4114-A585-D0EF3DDDD2A0}"/>
              </a:ext>
            </a:extLst>
          </p:cNvPr>
          <p:cNvSpPr txBox="1"/>
          <p:nvPr/>
        </p:nvSpPr>
        <p:spPr>
          <a:xfrm>
            <a:off x="539750" y="1317625"/>
            <a:ext cx="11080750" cy="4493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600" b="1" dirty="0">
                <a:latin typeface="Segoe UI"/>
                <a:ea typeface="+mn-lt"/>
                <a:cs typeface="+mn-lt"/>
              </a:rPr>
              <a:t>Issue</a:t>
            </a:r>
            <a:r>
              <a:rPr lang="en-GB" sz="2600" dirty="0">
                <a:latin typeface="Segoe UI"/>
                <a:ea typeface="+mn-lt"/>
                <a:cs typeface="+mn-lt"/>
              </a:rPr>
              <a:t>: NABARD ransomware incident due to lateral movement &amp; phishing</a:t>
            </a:r>
            <a:endParaRPr lang="en-US" sz="2600" dirty="0">
              <a:latin typeface="Segoe UI"/>
              <a:ea typeface="+mn-lt"/>
              <a:cs typeface="+mn-lt"/>
            </a:endParaRPr>
          </a:p>
          <a:p>
            <a:br>
              <a:rPr lang="en-GB" sz="2600" dirty="0">
                <a:latin typeface="Segoe UI"/>
                <a:ea typeface="+mn-lt"/>
                <a:cs typeface="+mn-lt"/>
              </a:rPr>
            </a:br>
            <a:r>
              <a:rPr lang="en-GB" sz="2600" b="1" u="sng" err="1">
                <a:solidFill>
                  <a:schemeClr val="tx2">
                    <a:lumMod val="90000"/>
                    <a:lumOff val="10000"/>
                  </a:schemeClr>
                </a:solidFill>
                <a:latin typeface="Segoe UI"/>
                <a:ea typeface="+mn-lt"/>
                <a:cs typeface="+mn-lt"/>
              </a:rPr>
              <a:t>TCPWave</a:t>
            </a:r>
            <a:r>
              <a:rPr lang="en-GB" sz="2600" b="1" u="sng" dirty="0">
                <a:solidFill>
                  <a:schemeClr val="tx2">
                    <a:lumMod val="90000"/>
                    <a:lumOff val="10000"/>
                  </a:schemeClr>
                </a:solidFill>
                <a:latin typeface="Segoe UI"/>
                <a:ea typeface="+mn-lt"/>
                <a:cs typeface="+mn-lt"/>
              </a:rPr>
              <a:t> Can Help With:</a:t>
            </a:r>
            <a:endParaRPr lang="en-US" sz="2600" b="1" u="sng">
              <a:solidFill>
                <a:schemeClr val="tx2">
                  <a:lumMod val="90000"/>
                  <a:lumOff val="10000"/>
                </a:schemeClr>
              </a:solidFill>
              <a:latin typeface="Segoe UI"/>
              <a:cs typeface="Segoe UI"/>
            </a:endParaRPr>
          </a:p>
          <a:p>
            <a:pPr marL="285750" indent="-285750">
              <a:buFont typeface="Arial"/>
              <a:buChar char="•"/>
            </a:pPr>
            <a:r>
              <a:rPr lang="en-GB" sz="2600" b="1">
                <a:latin typeface="Segoe UI"/>
                <a:ea typeface="+mn-lt"/>
                <a:cs typeface="+mn-lt"/>
              </a:rPr>
              <a:t>DNS </a:t>
            </a:r>
            <a:r>
              <a:rPr lang="en-GB" sz="2600" b="1" err="1">
                <a:latin typeface="Segoe UI"/>
                <a:ea typeface="+mn-lt"/>
                <a:cs typeface="+mn-lt"/>
              </a:rPr>
              <a:t>Sinkholing</a:t>
            </a:r>
            <a:r>
              <a:rPr lang="en-GB" sz="2600">
                <a:latin typeface="Segoe UI"/>
                <a:ea typeface="+mn-lt"/>
                <a:cs typeface="+mn-lt"/>
              </a:rPr>
              <a:t> to prevent callback to malicious domains</a:t>
            </a:r>
            <a:endParaRPr lang="en-GB" sz="2600">
              <a:latin typeface="Segoe UI"/>
              <a:cs typeface="Segoe UI"/>
            </a:endParaRPr>
          </a:p>
          <a:p>
            <a:pPr marL="285750" indent="-285750">
              <a:buFont typeface="Arial"/>
              <a:buChar char="•"/>
            </a:pPr>
            <a:r>
              <a:rPr lang="en-GB" sz="2600" b="1" dirty="0">
                <a:latin typeface="Segoe UI"/>
                <a:ea typeface="+mn-lt"/>
                <a:cs typeface="+mn-lt"/>
              </a:rPr>
              <a:t>Web Application Protection</a:t>
            </a:r>
            <a:r>
              <a:rPr lang="en-GB" sz="2600" dirty="0">
                <a:latin typeface="Segoe UI"/>
                <a:ea typeface="+mn-lt"/>
                <a:cs typeface="+mn-lt"/>
              </a:rPr>
              <a:t> for internal apps</a:t>
            </a:r>
            <a:endParaRPr lang="en-GB" sz="2600">
              <a:latin typeface="Segoe UI"/>
              <a:cs typeface="Segoe UI"/>
            </a:endParaRPr>
          </a:p>
          <a:p>
            <a:pPr marL="285750" indent="-285750">
              <a:buFont typeface="Arial"/>
              <a:buChar char="•"/>
            </a:pPr>
            <a:r>
              <a:rPr lang="en-GB" sz="2600" b="1" dirty="0">
                <a:latin typeface="Segoe UI"/>
                <a:ea typeface="+mn-lt"/>
                <a:cs typeface="+mn-lt"/>
              </a:rPr>
              <a:t>Network segmentation visibility</a:t>
            </a:r>
            <a:r>
              <a:rPr lang="en-GB" sz="2600" dirty="0">
                <a:latin typeface="Segoe UI"/>
                <a:ea typeface="+mn-lt"/>
                <a:cs typeface="+mn-lt"/>
              </a:rPr>
              <a:t> via DDI</a:t>
            </a:r>
            <a:endParaRPr lang="en-GB" sz="2600">
              <a:latin typeface="Segoe UI"/>
              <a:cs typeface="Segoe UI"/>
            </a:endParaRPr>
          </a:p>
          <a:p>
            <a:pPr marL="285750" indent="-285750">
              <a:buFont typeface="Arial"/>
              <a:buChar char="•"/>
            </a:pPr>
            <a:r>
              <a:rPr lang="en-GB" sz="2600" b="1" dirty="0">
                <a:latin typeface="Segoe UI"/>
                <a:ea typeface="+mn-lt"/>
                <a:cs typeface="+mn-lt"/>
              </a:rPr>
              <a:t>SIEM Integration</a:t>
            </a:r>
            <a:r>
              <a:rPr lang="en-GB" sz="2600" dirty="0">
                <a:latin typeface="Segoe UI"/>
                <a:ea typeface="+mn-lt"/>
                <a:cs typeface="+mn-lt"/>
              </a:rPr>
              <a:t> for rapid detection &amp; response</a:t>
            </a:r>
            <a:endParaRPr lang="en-GB" sz="2600">
              <a:latin typeface="Segoe UI"/>
              <a:cs typeface="Segoe UI"/>
            </a:endParaRPr>
          </a:p>
          <a:p>
            <a:endParaRPr lang="en-GB" sz="2600" dirty="0">
              <a:latin typeface="Segoe UI"/>
              <a:ea typeface="+mn-lt"/>
              <a:cs typeface="+mn-lt"/>
            </a:endParaRPr>
          </a:p>
          <a:p>
            <a:r>
              <a:rPr lang="en-GB" sz="2600" b="1" u="sng" dirty="0">
                <a:solidFill>
                  <a:schemeClr val="tx2">
                    <a:lumMod val="90000"/>
                    <a:lumOff val="10000"/>
                  </a:schemeClr>
                </a:solidFill>
                <a:latin typeface="Segoe UI"/>
                <a:ea typeface="+mn-lt"/>
                <a:cs typeface="+mn-lt"/>
              </a:rPr>
              <a:t>Limitations:</a:t>
            </a:r>
            <a:endParaRPr lang="en-GB" sz="2600" u="sng">
              <a:solidFill>
                <a:schemeClr val="tx2">
                  <a:lumMod val="90000"/>
                  <a:lumOff val="10000"/>
                </a:schemeClr>
              </a:solidFill>
              <a:latin typeface="Segoe UI"/>
              <a:cs typeface="Segoe UI"/>
            </a:endParaRPr>
          </a:p>
          <a:p>
            <a:pPr marL="285750" indent="-285750">
              <a:buFont typeface="Arial"/>
              <a:buChar char="•"/>
            </a:pPr>
            <a:r>
              <a:rPr lang="en-GB" sz="2600" dirty="0">
                <a:latin typeface="Segoe UI"/>
                <a:ea typeface="+mn-lt"/>
                <a:cs typeface="+mn-lt"/>
              </a:rPr>
              <a:t>No native email threat filtering</a:t>
            </a:r>
            <a:endParaRPr lang="en-GB" sz="2600">
              <a:latin typeface="Segoe UI"/>
              <a:cs typeface="Segoe UI"/>
            </a:endParaRPr>
          </a:p>
          <a:p>
            <a:pPr marL="285750" indent="-285750">
              <a:buFont typeface="Arial"/>
              <a:buChar char="•"/>
            </a:pPr>
            <a:r>
              <a:rPr lang="en-GB" sz="2600" dirty="0">
                <a:latin typeface="Segoe UI"/>
                <a:ea typeface="+mn-lt"/>
                <a:cs typeface="+mn-lt"/>
              </a:rPr>
              <a:t>Needs 3rd-party EDR/Backup tools to form full stack</a:t>
            </a:r>
            <a:endParaRPr lang="en-GB" sz="26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950528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B5A90-AED1-A52E-4710-05AFA749A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919E2876-5EDC-7057-EFD8-3891C9370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5466" y="6039878"/>
            <a:ext cx="1819275" cy="7715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F10D7F-AFA5-1F30-50F1-BC15C0EC1E59}"/>
              </a:ext>
            </a:extLst>
          </p:cNvPr>
          <p:cNvSpPr txBox="1"/>
          <p:nvPr/>
        </p:nvSpPr>
        <p:spPr>
          <a:xfrm>
            <a:off x="176212" y="223837"/>
            <a:ext cx="11299825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dirty="0">
                <a:solidFill>
                  <a:srgbClr val="153D64"/>
                </a:solidFill>
                <a:latin typeface="Segoe UI"/>
                <a:cs typeface="Segoe UI"/>
              </a:rPr>
              <a:t>Recommendations to </a:t>
            </a:r>
            <a:r>
              <a:rPr lang="en-US" sz="4400" b="1" dirty="0" err="1">
                <a:solidFill>
                  <a:srgbClr val="153D64"/>
                </a:solidFill>
                <a:latin typeface="Segoe UI"/>
                <a:cs typeface="Segoe UI"/>
              </a:rPr>
              <a:t>TCPWave</a:t>
            </a:r>
            <a:r>
              <a:rPr lang="en-US" sz="4400" b="1" dirty="0">
                <a:solidFill>
                  <a:srgbClr val="153D64"/>
                </a:solidFill>
                <a:latin typeface="Segoe UI"/>
                <a:cs typeface="Segoe UI"/>
              </a:rPr>
              <a:t> for NABARD Solution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583F7A9-D496-D8A4-5847-F73BC514CF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729905"/>
              </p:ext>
            </p:extLst>
          </p:nvPr>
        </p:nvGraphicFramePr>
        <p:xfrm>
          <a:off x="598805" y="1730439"/>
          <a:ext cx="10835680" cy="425405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708920">
                  <a:extLst>
                    <a:ext uri="{9D8B030D-6E8A-4147-A177-3AD203B41FA5}">
                      <a16:colId xmlns:a16="http://schemas.microsoft.com/office/drawing/2014/main" val="2343358846"/>
                    </a:ext>
                  </a:extLst>
                </a:gridCol>
                <a:gridCol w="2708920">
                  <a:extLst>
                    <a:ext uri="{9D8B030D-6E8A-4147-A177-3AD203B41FA5}">
                      <a16:colId xmlns:a16="http://schemas.microsoft.com/office/drawing/2014/main" val="3973672863"/>
                    </a:ext>
                  </a:extLst>
                </a:gridCol>
                <a:gridCol w="2708920">
                  <a:extLst>
                    <a:ext uri="{9D8B030D-6E8A-4147-A177-3AD203B41FA5}">
                      <a16:colId xmlns:a16="http://schemas.microsoft.com/office/drawing/2014/main" val="1683571173"/>
                    </a:ext>
                  </a:extLst>
                </a:gridCol>
                <a:gridCol w="2708920">
                  <a:extLst>
                    <a:ext uri="{9D8B030D-6E8A-4147-A177-3AD203B41FA5}">
                      <a16:colId xmlns:a16="http://schemas.microsoft.com/office/drawing/2014/main" val="524013380"/>
                    </a:ext>
                  </a:extLst>
                </a:gridCol>
              </a:tblGrid>
              <a:tr h="85380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dirty="0">
                          <a:latin typeface="Aptos"/>
                        </a:rPr>
                        <a:t>Short-Term (0–3 months)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dirty="0">
                          <a:latin typeface="Aptos"/>
                        </a:rPr>
                        <a:t>Mid-Term (3–6 months)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dirty="0">
                          <a:latin typeface="Aptos"/>
                        </a:rPr>
                        <a:t>Long-Term (6+ months)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21721"/>
                  </a:ext>
                </a:extLst>
              </a:tr>
              <a:tr h="3400250"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800" b="0" i="0" u="none" strike="noStrike" noProof="0" dirty="0">
                          <a:latin typeface="Aptos"/>
                        </a:rPr>
                        <a:t>Deploy </a:t>
                      </a:r>
                      <a:r>
                        <a:rPr lang="en-GB" sz="1800" b="0" i="0" u="none" strike="noStrike" noProof="0" dirty="0" err="1">
                          <a:latin typeface="Aptos"/>
                        </a:rPr>
                        <a:t>TCPWave</a:t>
                      </a:r>
                      <a:r>
                        <a:rPr lang="en-GB" sz="1800" b="0" i="0" u="none" strike="noStrike" noProof="0" dirty="0">
                          <a:latin typeface="Aptos"/>
                        </a:rPr>
                        <a:t> DNS Security and WAF.</a:t>
                      </a:r>
                      <a:endParaRPr lang="en-US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en-GB" sz="1800" b="0" i="0" u="none" strike="noStrike" noProof="0" dirty="0">
                        <a:latin typeface="Aptos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800" b="0" i="0" u="none" strike="noStrike" noProof="0" dirty="0">
                          <a:latin typeface="Aptos"/>
                        </a:rPr>
                        <a:t>Integrate with existing SIEM and firewall.</a:t>
                      </a:r>
                      <a:endParaRPr lang="en-GB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0" i="0" u="none" strike="noStrike" noProof="0" dirty="0">
                        <a:latin typeface="Aptos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800" b="0" i="0" u="none" strike="noStrike" noProof="0" dirty="0">
                          <a:latin typeface="Aptos"/>
                        </a:rPr>
                        <a:t>Enable logging and anomaly alerts.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en-GB" sz="1800" b="0" i="0" u="none" strike="noStrike" noProof="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800" b="0" i="0" u="none" strike="noStrike" noProof="0" dirty="0">
                          <a:latin typeface="Aptos"/>
                        </a:rPr>
                        <a:t>Partner with EDR vendors for endpoint control.</a:t>
                      </a:r>
                      <a:endParaRPr lang="en-US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en-GB" sz="1800" b="0" i="0" u="none" strike="noStrike" noProof="0" dirty="0">
                        <a:latin typeface="Aptos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800" b="0" i="0" u="none" strike="noStrike" noProof="0" dirty="0">
                          <a:latin typeface="Aptos"/>
                        </a:rPr>
                        <a:t>Integrate with MISP/STIX threat intelligence.</a:t>
                      </a:r>
                      <a:endParaRPr lang="en-GB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0" i="0" u="none" strike="noStrike" noProof="0" dirty="0">
                        <a:latin typeface="Aptos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800" b="0" i="0" u="none" strike="noStrike" noProof="0" dirty="0">
                          <a:latin typeface="Aptos"/>
                        </a:rPr>
                        <a:t>Build Zero Trust access control using DNS/IPAM policies.</a:t>
                      </a:r>
                      <a:endParaRPr lang="en-GB" dirty="0"/>
                    </a:p>
                    <a:p>
                      <a:pPr lvl="0">
                        <a:buNone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800" b="0" i="0" u="none" strike="noStrike" noProof="0" dirty="0">
                          <a:latin typeface="Aptos"/>
                        </a:rPr>
                        <a:t>Expand into sandboxing, phishing protection tools.</a:t>
                      </a:r>
                      <a:endParaRPr lang="en-US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en-GB" sz="1800" b="0" i="0" u="none" strike="noStrike" noProof="0" dirty="0">
                        <a:latin typeface="Aptos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800" b="0" i="0" u="none" strike="noStrike" noProof="0">
                          <a:latin typeface="Aptos"/>
                        </a:rPr>
                        <a:t>Refine </a:t>
                      </a:r>
                      <a:r>
                        <a:rPr lang="en-GB" sz="1800" b="0" i="0" u="none" strike="noStrike" kern="1200" noProof="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behavioural </a:t>
                      </a:r>
                      <a:r>
                        <a:rPr lang="en-GB" sz="1800" b="0" i="0" u="none" strike="noStrike" noProof="0">
                          <a:latin typeface="Aptos"/>
                        </a:rPr>
                        <a:t>analytics using AI </a:t>
                      </a:r>
                      <a:r>
                        <a:rPr lang="en-GB" sz="1800" b="0" i="0" u="none" strike="noStrike" noProof="0" dirty="0">
                          <a:latin typeface="Aptos"/>
                        </a:rPr>
                        <a:t>engine.</a:t>
                      </a:r>
                      <a:endParaRPr lang="en-GB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en-GB" sz="1800" b="0" i="0" u="none" strike="noStrike" noProof="0" dirty="0">
                        <a:latin typeface="Aptos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800" b="0" i="0" u="none" strike="noStrike" noProof="0" dirty="0">
                          <a:latin typeface="Aptos"/>
                        </a:rPr>
                        <a:t>Build integrated ransomware playbook.</a:t>
                      </a:r>
                      <a:endParaRPr lang="en-GB" dirty="0"/>
                    </a:p>
                    <a:p>
                      <a:pPr lvl="0">
                        <a:buNone/>
                      </a:pP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929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891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525FE-FADB-33D6-EA66-FACFF55E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1B835CD5-4486-27A3-AD5F-C75F3EC53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5466" y="6039878"/>
            <a:ext cx="1819275" cy="7715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41C52F-2265-A457-1FAA-61F6F4826B0D}"/>
              </a:ext>
            </a:extLst>
          </p:cNvPr>
          <p:cNvSpPr txBox="1"/>
          <p:nvPr/>
        </p:nvSpPr>
        <p:spPr>
          <a:xfrm>
            <a:off x="176212" y="493712"/>
            <a:ext cx="1129982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dirty="0">
                <a:solidFill>
                  <a:srgbClr val="153D64"/>
                </a:solidFill>
                <a:latin typeface="Segoe UI"/>
                <a:cs typeface="Segoe UI"/>
              </a:rPr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FA9566-0F88-9F4A-798E-DD3A1B361961}"/>
              </a:ext>
            </a:extLst>
          </p:cNvPr>
          <p:cNvSpPr txBox="1"/>
          <p:nvPr/>
        </p:nvSpPr>
        <p:spPr>
          <a:xfrm>
            <a:off x="555625" y="1904999"/>
            <a:ext cx="11263313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/>
              <a:buChar char="§"/>
            </a:pPr>
            <a:r>
              <a:rPr lang="en-GB" sz="3200" dirty="0" err="1">
                <a:latin typeface="Segoe UI"/>
                <a:ea typeface="+mn-lt"/>
                <a:cs typeface="+mn-lt"/>
              </a:rPr>
              <a:t>TCPWave</a:t>
            </a:r>
            <a:r>
              <a:rPr lang="en-GB" sz="3200" dirty="0">
                <a:latin typeface="Segoe UI"/>
                <a:ea typeface="+mn-lt"/>
                <a:cs typeface="+mn-lt"/>
              </a:rPr>
              <a:t> has strong foundational WAF capabilities.</a:t>
            </a:r>
            <a:endParaRPr lang="en-US" sz="3200" dirty="0">
              <a:latin typeface="Segoe UI"/>
              <a:cs typeface="Segoe UI"/>
            </a:endParaRPr>
          </a:p>
          <a:p>
            <a:endParaRPr lang="en-GB" sz="3200" dirty="0">
              <a:latin typeface="Segoe UI"/>
              <a:ea typeface="+mn-lt"/>
              <a:cs typeface="+mn-lt"/>
            </a:endParaRPr>
          </a:p>
          <a:p>
            <a:pPr marL="457200" indent="-457200">
              <a:buFont typeface="Wingdings"/>
              <a:buChar char="§"/>
            </a:pPr>
            <a:r>
              <a:rPr lang="en-GB" sz="3200" dirty="0">
                <a:latin typeface="Segoe UI"/>
                <a:ea typeface="+mn-lt"/>
                <a:cs typeface="+mn-lt"/>
              </a:rPr>
              <a:t>Key areas like threat intel, bot mitigation, and ML require enhancement.</a:t>
            </a:r>
            <a:endParaRPr lang="en-GB" sz="3200">
              <a:latin typeface="Segoe UI"/>
              <a:cs typeface="Segoe UI"/>
            </a:endParaRPr>
          </a:p>
          <a:p>
            <a:endParaRPr lang="en-GB" sz="3200" dirty="0">
              <a:latin typeface="Segoe UI"/>
              <a:ea typeface="+mn-lt"/>
              <a:cs typeface="+mn-lt"/>
            </a:endParaRPr>
          </a:p>
          <a:p>
            <a:pPr marL="457200" indent="-457200">
              <a:buFont typeface="Wingdings"/>
              <a:buChar char="§"/>
            </a:pPr>
            <a:r>
              <a:rPr lang="en-GB" sz="3200" dirty="0">
                <a:latin typeface="Segoe UI"/>
                <a:ea typeface="+mn-lt"/>
                <a:cs typeface="+mn-lt"/>
              </a:rPr>
              <a:t>With proper partnerships and roadmap execution, </a:t>
            </a:r>
            <a:r>
              <a:rPr lang="en-GB" sz="3200" dirty="0" err="1">
                <a:latin typeface="Segoe UI"/>
                <a:ea typeface="+mn-lt"/>
                <a:cs typeface="+mn-lt"/>
              </a:rPr>
              <a:t>TCPWave</a:t>
            </a:r>
            <a:r>
              <a:rPr lang="en-GB" sz="3200" dirty="0">
                <a:latin typeface="Segoe UI"/>
                <a:ea typeface="+mn-lt"/>
                <a:cs typeface="+mn-lt"/>
              </a:rPr>
              <a:t> can mature into a full ransomware defence suite.</a:t>
            </a:r>
            <a:endParaRPr lang="en-GB" sz="3200" dirty="0">
              <a:latin typeface="Segoe UI"/>
              <a:cs typeface="Segoe UI"/>
            </a:endParaRPr>
          </a:p>
          <a:p>
            <a:pPr marL="285750" indent="-285750" algn="l">
              <a:buFont typeface="Wingdings"/>
              <a:buChar char="§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2390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496</Words>
  <Application>Microsoft Macintosh PowerPoint</Application>
  <PresentationFormat>Widescreen</PresentationFormat>
  <Paragraphs>122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Pavan Gadi</cp:lastModifiedBy>
  <cp:revision>266</cp:revision>
  <dcterms:created xsi:type="dcterms:W3CDTF">2025-04-21T08:15:29Z</dcterms:created>
  <dcterms:modified xsi:type="dcterms:W3CDTF">2025-04-22T01:12:39Z</dcterms:modified>
</cp:coreProperties>
</file>